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Project Title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0000"/>
          </a:bodyPr>
          <a:lstStyle/>
          <a:p>
            <a:r>
              <a:rPr lang="en-US" altLang="en-US"/>
              <a:t>ShapeTool SOAP Web Service using Spring Boot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Elias Sirak    id= 145961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2. 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ShapeTool is a SOAP-based web service developed using Spring Boot and Spring Web Services (Spring WS).</a:t>
            </a:r>
            <a:endParaRPr lang="en-US" altLang="en-US"/>
          </a:p>
          <a:p>
            <a:r>
              <a:rPr lang="en-US" altLang="en-US"/>
              <a:t>It provides mathematical operations to calculate areas of different geometric shapes such as circle, square, rectangle, triangle, and parallelogram.</a:t>
            </a:r>
            <a:endParaRPr lang="en-US" altLang="en-US"/>
          </a:p>
          <a:p>
            <a:r>
              <a:rPr lang="en-US" altLang="en-US"/>
              <a:t>The service communicates using SOAP XML messages and exposes a WSDL file for client integration.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3. Technologies Used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Java 17 </a:t>
            </a:r>
            <a:endParaRPr lang="en-US" altLang="en-US"/>
          </a:p>
          <a:p>
            <a:r>
              <a:rPr lang="en-US" altLang="en-US"/>
              <a:t>Spring Boot 3.2.5 </a:t>
            </a:r>
            <a:endParaRPr lang="en-US" altLang="en-US"/>
          </a:p>
          <a:p>
            <a:r>
              <a:rPr lang="en-US" altLang="en-US"/>
              <a:t>Spring Web Services (Spring WS) </a:t>
            </a:r>
            <a:endParaRPr lang="en-US" altLang="en-US"/>
          </a:p>
          <a:p>
            <a:r>
              <a:rPr lang="en-US" altLang="en-US"/>
              <a:t>JAXB (XML binding) </a:t>
            </a:r>
            <a:endParaRPr lang="en-US" altLang="en-US"/>
          </a:p>
          <a:p>
            <a:r>
              <a:rPr lang="en-US" altLang="en-US"/>
              <a:t>Maven </a:t>
            </a:r>
            <a:endParaRPr lang="en-US" altLang="en-US"/>
          </a:p>
          <a:p>
            <a:r>
              <a:rPr lang="en-US" altLang="en-US"/>
              <a:t>Postman (for testing) </a:t>
            </a:r>
            <a:endParaRPr lang="en-US" altLang="en-US"/>
          </a:p>
          <a:p>
            <a:r>
              <a:rPr lang="en-US" altLang="en-US"/>
              <a:t>SOAP XML Protocol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4. Project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project follows a simple SOAP architecture:</a:t>
            </a:r>
            <a:endParaRPr lang="en-US" altLang="en-US"/>
          </a:p>
          <a:p>
            <a:r>
              <a:rPr lang="en-US" altLang="en-US"/>
              <a:t>Client (Postman / SOAP client) </a:t>
            </a:r>
            <a:endParaRPr lang="en-US" altLang="en-US"/>
          </a:p>
          <a:p>
            <a:r>
              <a:rPr lang="en-US" altLang="en-US"/>
              <a:t>Spring Boot SOAP Server </a:t>
            </a:r>
            <a:endParaRPr lang="en-US" altLang="en-US"/>
          </a:p>
          <a:p>
            <a:r>
              <a:rPr lang="en-US" altLang="en-US"/>
              <a:t>Endpoint Layer (@Endpoint) </a:t>
            </a:r>
            <a:endParaRPr lang="en-US" altLang="en-US"/>
          </a:p>
          <a:p>
            <a:r>
              <a:rPr lang="en-US" altLang="en-US"/>
              <a:t>XSD Schema (Data contract) </a:t>
            </a:r>
            <a:endParaRPr lang="en-US" altLang="en-US"/>
          </a:p>
          <a:p>
            <a:r>
              <a:rPr lang="en-US" altLang="en-US"/>
              <a:t>WSDL (Generated service definition) 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5. Project Structure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src/main/java</a:t>
            </a:r>
            <a:endParaRPr lang="en-US" altLang="en-US"/>
          </a:p>
          <a:p>
            <a:r>
              <a:rPr lang="en-US" altLang="en-US"/>
              <a:t> └── com.example.shapetool</a:t>
            </a:r>
            <a:endParaRPr lang="en-US" altLang="en-US"/>
          </a:p>
          <a:p>
            <a:r>
              <a:rPr lang="en-US" altLang="en-US"/>
              <a:t>      ├── endpoint</a:t>
            </a:r>
            <a:endParaRPr lang="en-US" altLang="en-US"/>
          </a:p>
          <a:p>
            <a:r>
              <a:rPr lang="en-US" altLang="en-US"/>
              <a:t>      │     └── ShapeEndpoint.java</a:t>
            </a:r>
            <a:endParaRPr lang="en-US" altLang="en-US"/>
          </a:p>
          <a:p>
            <a:r>
              <a:rPr lang="en-US" altLang="en-US"/>
              <a:t>      ├── config</a:t>
            </a:r>
            <a:endParaRPr lang="en-US" altLang="en-US"/>
          </a:p>
          <a:p>
            <a:r>
              <a:rPr lang="en-US" altLang="en-US"/>
              <a:t>      │     └── WebServiceConfig.java</a:t>
            </a:r>
            <a:endParaRPr lang="en-US" altLang="en-US"/>
          </a:p>
          <a:p>
            <a:r>
              <a:rPr lang="en-US" altLang="en-US"/>
              <a:t>      ├── ShapeToolApplication.java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src/main/resources</a:t>
            </a:r>
            <a:endParaRPr lang="en-US" altLang="en-US"/>
          </a:p>
          <a:p>
            <a:r>
              <a:rPr lang="en-US" altLang="en-US"/>
              <a:t> └── shapetool.xsd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6. Web Service Configuration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SOAP service is configured using MessageDispatcherServlet and exposed under:</a:t>
            </a:r>
            <a:endParaRPr lang="en-US" altLang="en-US"/>
          </a:p>
          <a:p>
            <a:r>
              <a:rPr lang="en-US" altLang="en-US"/>
              <a:t>http://localhost:8080/ws</a:t>
            </a:r>
            <a:endParaRPr lang="en-US" altLang="en-US"/>
          </a:p>
          <a:p>
            <a:r>
              <a:rPr lang="en-US" altLang="en-US"/>
              <a:t>WSDL Access:</a:t>
            </a:r>
            <a:endParaRPr lang="en-US" altLang="en-US"/>
          </a:p>
          <a:p>
            <a:r>
              <a:rPr lang="en-US" altLang="en-US"/>
              <a:t>http://localhost:8080/ws/shapetool.wsdl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7. XML Schema (XSD)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service uses an XSD file to define request and response structures.</a:t>
            </a:r>
            <a:endParaRPr lang="en-US" altLang="en-US"/>
          </a:p>
          <a:p>
            <a:r>
              <a:rPr lang="en-US" altLang="en-US"/>
              <a:t>It defines:</a:t>
            </a:r>
            <a:endParaRPr lang="en-US" altLang="en-US"/>
          </a:p>
          <a:p>
            <a:r>
              <a:rPr lang="en-US" altLang="en-US"/>
              <a:t>circleAreaRequest / circleAreaResponse </a:t>
            </a:r>
            <a:endParaRPr lang="en-US" altLang="en-US"/>
          </a:p>
          <a:p>
            <a:r>
              <a:rPr lang="en-US" altLang="en-US"/>
              <a:t>squareAreaRequest / squareAreaResponse </a:t>
            </a:r>
            <a:endParaRPr lang="en-US" altLang="en-US"/>
          </a:p>
          <a:p>
            <a:r>
              <a:rPr lang="en-US" altLang="en-US"/>
              <a:t>rectangleAreaRequest / rectangleAreaResponse </a:t>
            </a:r>
            <a:endParaRPr lang="en-US" altLang="en-US"/>
          </a:p>
          <a:p>
            <a:r>
              <a:rPr lang="en-US" altLang="en-US"/>
              <a:t>triangleAreaRequest / triangleAreaResponse </a:t>
            </a:r>
            <a:endParaRPr lang="en-US" altLang="en-US"/>
          </a:p>
          <a:p>
            <a:r>
              <a:rPr lang="en-US" altLang="en-US"/>
              <a:t>parallelogramAreaRequest / parallelogramAreaResponse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8. SOAP Endpoints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Each operation is implemented in ShapeEndpoint.java.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8.1 Circle Area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Formula: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Area = π × r²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8.2 Square Area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Area = side × side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                      8.3 Rectangle Area</a:t>
            </a:r>
            <a:endParaRPr lang="en-US" altLang="en-US"/>
          </a:p>
          <a:p>
            <a:r>
              <a:rPr lang="en-US" altLang="en-US"/>
              <a:t>Area = length × width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8.4 Triangle Area</a:t>
            </a:r>
            <a:endParaRPr lang="en-US" altLang="en-US"/>
          </a:p>
          <a:p>
            <a:r>
              <a:rPr lang="en-US" altLang="en-US"/>
              <a:t>Area = 1/2 × base × height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8.5 Parallelogram Area</a:t>
            </a:r>
            <a:endParaRPr lang="en-US" altLang="en-US"/>
          </a:p>
          <a:p>
            <a:r>
              <a:rPr lang="en-US" altLang="en-US"/>
              <a:t>Area = base × height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9. Example SOAP Request (Circle)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&lt;soapenv:Envelope xmlns:soapenv="http://schemas.xmlsoap.org/soap/envelope/"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xmlns:shp="http://example.com/shapetool"&gt;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   &lt;soapenv:Header/&gt;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&lt;soapenv:Body&gt;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&lt;shp:circleAreaRequest&gt;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&lt;shp:radius&gt;5&lt;/shp:radius&gt;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&lt;/shp:circleAreaRequest&gt;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&lt;/soapenv:Body&gt;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&lt;/soapenv:Envelope&gt;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10. Example SOAP Response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&lt;circleAreaResponse&gt;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&lt;area&gt;78.5398&lt;/area&gt;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&lt;/circleAreaResponse&gt;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11. Testing Tool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    The service was tested using:</a:t>
            </a:r>
            <a:endParaRPr lang="en-US" altLang="en-US"/>
          </a:p>
          <a:p>
            <a:r>
              <a:rPr lang="en-US" altLang="en-US"/>
              <a:t>Postman </a:t>
            </a:r>
            <a:endParaRPr lang="en-US" altLang="en-US"/>
          </a:p>
          <a:p>
            <a:r>
              <a:rPr lang="en-US" altLang="en-US"/>
              <a:t>SOAP XML requests </a:t>
            </a:r>
            <a:endParaRPr lang="en-US" altLang="en-US"/>
          </a:p>
          <a:p>
            <a:r>
              <a:rPr lang="en-US" altLang="en-US"/>
              <a:t>Local Spring Boot server 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12. Testing Results</a:t>
            </a:r>
            <a:br>
              <a:rPr lang="en-US" altLang="en-US"/>
            </a:br>
            <a:r>
              <a:rPr lang="en-US" altLang="en-US" sz="2220"/>
              <a:t>All operations successfully returned correct results</a:t>
            </a:r>
            <a:endParaRPr lang="en-US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853440" y="2351405"/>
          <a:ext cx="10500360" cy="3756660"/>
        </p:xfrm>
        <a:graphic>
          <a:graphicData uri="http://schemas.openxmlformats.org/drawingml/2006/table">
            <a:tbl>
              <a:tblPr/>
              <a:tblGrid>
                <a:gridCol w="3500120"/>
                <a:gridCol w="3500120"/>
                <a:gridCol w="3500120"/>
              </a:tblGrid>
              <a:tr h="626110">
                <a:tc>
                  <a:txBody>
                    <a:bodyPr/>
                    <a:p>
                      <a:r>
                        <a:rPr sz="2800"/>
                        <a:t>Shape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Input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Output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r>
                        <a:rPr sz="2800"/>
                        <a:t>Circle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r=5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78.54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r>
                        <a:rPr sz="2800"/>
                        <a:t>Square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side=4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16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r>
                        <a:rPr sz="2800"/>
                        <a:t>Rectangle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6×3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18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r>
                        <a:rPr sz="2800"/>
                        <a:t>Triangle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10×5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25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6110">
                <a:tc>
                  <a:txBody>
                    <a:bodyPr/>
                    <a:p>
                      <a:r>
                        <a:rPr sz="2800"/>
                        <a:t>Parallelogram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8×4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/>
                        <a:t>32</a:t>
                      </a:r>
                      <a:endParaRPr sz="2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13. 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ShapeTool SOAP Web Service successfully demonstrates how to build a SOAP-based API using Spring Boot. It supports multiple geometric calculations and communicates using XML-based SOAP messages.</a:t>
            </a:r>
            <a:endParaRPr lang="en-US" altLang="en-US"/>
          </a:p>
          <a:p>
            <a:r>
              <a:rPr lang="en-US" altLang="en-US"/>
              <a:t>The system is fully functional and can be extended with database integration or security features.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Presentation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ela</dc:creator>
  <cp:lastModifiedBy>Elias Sirak</cp:lastModifiedBy>
  <cp:revision>3</cp:revision>
  <dcterms:created xsi:type="dcterms:W3CDTF">2025-07-23T00:59:00Z</dcterms:created>
  <dcterms:modified xsi:type="dcterms:W3CDTF">2026-04-15T15:06:02Z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A8C7C6274F504FE6B8AF7644875A5F07_11</vt:lpwstr>
  </property>
  <property fmtid="{D5CDD505-2E9C-101B-9397-08002B2CF9AE}" pid="3" name="KSOProductBuildVer">
    <vt:lpwstr>1033-12.1.0.25242</vt:lpwstr>
  </property>
</Properties>
</file>